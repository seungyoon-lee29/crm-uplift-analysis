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Apple SD Gothic Neo"/>
              </a:rPr>
              <a:t>CRM 푸시, 다 보낼까 거를까?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Apple SD Gothic Neo"/>
              </a:rPr>
              <a:t>uplift(증분)로 답하는 타겟팅 — 평균이 아니라 인과로, 결론을 조작하지 않고 정직하게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Apple SD Gothic Neo"/>
              </a:rPr>
              <a:t>가상 사전과제 · Hillstrom 6.4만 명 무작위배정 이메일 A/B</a:t>
            </a:r>
          </a:p>
          <a:p>
            <a:r>
              <a:rPr sz="1300" b="0">
                <a:solidFill>
                  <a:srgbClr val="94A3B8"/>
                </a:solidFill>
                <a:latin typeface="Apple SD Gothic Neo"/>
              </a:rPr>
              <a:t>Python · scikit-uplift · 인과추론 · train/validation/test</a:t>
            </a:r>
          </a:p>
          <a:p>
            <a:r>
              <a:rPr sz="1300" b="0">
                <a:solidFill>
                  <a:srgbClr val="94A3B8"/>
                </a:solidFill>
                <a:latin typeface="Apple SD Gothic Neo"/>
              </a:rPr>
              <a:t>github.com/seungyoon-lee29/crm-uplift-analysis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Apple SD Gothic Neo"/>
              </a:rPr>
              <a:t>과제 정의</a:t>
            </a:r>
          </a:p>
          <a:p>
            <a:r>
              <a:rPr sz="2800" b="1">
                <a:solidFill>
                  <a:srgbClr val="0F172A"/>
                </a:solidFill>
                <a:latin typeface="Apple SD Gothic Neo"/>
              </a:rPr>
              <a:t>풀어야 할 문제 — "다 보내 vs 거르기"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766560" cy="44805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6217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0F172A"/>
                </a:solidFill>
                <a:latin typeface="Apple SD Gothic Neo"/>
              </a:rPr>
              <a:t>•  "K은행 그로스팀은 매 캠페인 전체 고객에게 푸시를 쏜다.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172A"/>
                </a:solidFill>
                <a:latin typeface="Apple SD Gothic Neo"/>
              </a:rPr>
              <a:t>•  전체발송 vs ML로 거른 타겟발송, 무엇이 옳은가?"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4F46E5"/>
                </a:solidFill>
                <a:latin typeface="Apple SD Gothic Neo"/>
              </a:rPr>
              <a:t>•  R2(원하는 상태): 같은 발송예산에서 순증분이익 최대화 + 채널수명 방어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64748B"/>
                </a:solidFill>
                <a:latin typeface="Apple SD Gothic Neo"/>
              </a:rPr>
              <a:t>•  핵심방정식: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0F172A"/>
                </a:solidFill>
                <a:latin typeface="Apple SD Gothic Neo"/>
              </a:rPr>
              <a:t>•  순이익/명 = 증분구매 × AOV × 마진 − 발송비 − 수신거부율 × LTV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64748B"/>
                </a:solidFill>
                <a:latin typeface="Apple SD Gothic Neo"/>
              </a:rPr>
              <a:t>•  분해: 퍼널(발송→visit→conversion→spend) × uplift 세그먼트 × 피로비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554480"/>
            <a:ext cx="4114800" cy="448056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82880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F46E5"/>
                </a:solidFill>
                <a:latin typeface="Apple SD Gothic Neo"/>
              </a:rPr>
              <a:t>왜 어려운가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Apple SD Gothic Neo"/>
              </a:rPr>
              <a:t>– 오픈율·전환율(평균)은 의사결정 단위가 아니다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Apple SD Gothic Neo"/>
              </a:rPr>
              <a:t>– 필요한 건 '메시지가 행동을 바꿨는가' = 증분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Apple SD Gothic Neo"/>
              </a:rPr>
              <a:t>– 수신거부 1건은 모든 미래 캠페인을 잃는 비용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Apple SD Gothic Neo"/>
              </a:rPr>
              <a:t>– → 평균이 아닌 한계·증분으로 사고해야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ple SD Gothic Neo"/>
              </a:rPr>
              <a:t>CRM Uplift · 전체발송 vs ML 타겟팅 · Hillstrom 실데이터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ple SD Gothic Ne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Apple SD Gothic Neo"/>
              </a:rPr>
              <a:t>프레임</a:t>
            </a:r>
          </a:p>
          <a:p>
            <a:r>
              <a:rPr sz="2800" b="1">
                <a:solidFill>
                  <a:srgbClr val="0F172A"/>
                </a:solidFill>
                <a:latin typeface="Apple SD Gothic Neo"/>
              </a:rPr>
              <a:t>접근 — 화려한 모델이 아니라 정직한 분석 태도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20240"/>
            <a:ext cx="2697480" cy="32918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269748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Apple SD Gothic Neo"/>
              </a:rPr>
              <a:t>1. 증분 사고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64748B"/>
                </a:solidFill>
                <a:latin typeface="Apple SD Gothic Neo"/>
              </a:rPr>
              <a:t>treated − control(무작위배정)로 의사결정. 평균효과가 아니라 인과 증분.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4991" y="1920240"/>
            <a:ext cx="2697480" cy="32918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64991" y="1920240"/>
            <a:ext cx="269748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1" y="224028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Apple SD Gothic Neo"/>
              </a:rPr>
              <a:t>2. 결론 비조작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64748B"/>
                </a:solidFill>
                <a:latin typeface="Apple SD Gothic Neo"/>
              </a:rPr>
              <a:t>합성 데이터로 인과를 심지 않음. 실 벤치마크(Hillstrom)로 검증.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920240"/>
            <a:ext cx="2697480" cy="32918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7064" y="1920240"/>
            <a:ext cx="269748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224028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Apple SD Gothic Neo"/>
              </a:rPr>
              <a:t>3. 검증 규율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64748B"/>
                </a:solidFill>
                <a:latin typeface="Apple SD Gothic Neo"/>
              </a:rPr>
              <a:t>train/validation/test 분리. 정책 선택과 성과 평가를 절대 섞지 않음.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89136" y="1920240"/>
            <a:ext cx="2697480" cy="32918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89136" y="1920240"/>
            <a:ext cx="269748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72016" y="224028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Apple SD Gothic Neo"/>
              </a:rPr>
              <a:t>4. 가정 투명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64748B"/>
                </a:solidFill>
                <a:latin typeface="Apple SD Gothic Neo"/>
              </a:rPr>
              <a:t>마진·LTV·수신거부는 데이터 밖 → config로 분리하고 민감도로 다룸.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ple SD Gothic Neo"/>
              </a:rPr>
              <a:t>CRM Uplift · 전체발송 vs ML 타겟팅 · Hillstrom 실데이터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ple SD Gothic Ne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Apple SD Gothic Neo"/>
              </a:rPr>
              <a:t>데이터</a:t>
            </a:r>
          </a:p>
          <a:p>
            <a:r>
              <a:rPr sz="2800" b="1">
                <a:solidFill>
                  <a:srgbClr val="0F172A"/>
                </a:solidFill>
                <a:latin typeface="Apple SD Gothic Neo"/>
              </a:rPr>
              <a:t>데이터 — Hillstrom 무작위배정 이메일 A/B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0F172A"/>
                </a:solidFill>
                <a:latin typeface="Apple SD Gothic Neo"/>
              </a:rPr>
              <a:t>•  64,000 고객을 3군 무작위배정: Mens E-Mail / Womens E-Mail / No E-Mail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0F172A"/>
                </a:solidFill>
                <a:latin typeface="Apple SD Gothic Neo"/>
              </a:rPr>
              <a:t>•  treatment = 이메일 발송(1) vs 무발송(0) · 결과 = visit → conversion → spend (2주)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4F46E5"/>
                </a:solidFill>
                <a:latin typeface="Apple SD Gothic Neo"/>
              </a:rPr>
              <a:t>•  무작위배정 → control(무발송)이 깨끗한 반사실(counterfactual) 제공 = 증분 측정 가능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64748B"/>
                </a:solidFill>
                <a:latin typeface="Apple SD Gothic Neo"/>
              </a:rPr>
              <a:t>•  합성 안 씀: 인과를 손으로 심는 순환논리를 피하려 실 벤치마크 선택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64748B"/>
                </a:solidFill>
                <a:latin typeface="Apple SD Gothic Neo"/>
              </a:rPr>
              <a:t>•  데이터에 없는 것(=가정): 마진율·발송비·수신거부율·LTV → config로 노출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64748B"/>
                </a:solidFill>
                <a:latin typeface="Apple SD Gothic Neo"/>
              </a:rPr>
              <a:t>•  검증: 결측 0 · 퍼널 단조성(conversion⊆visit, spend⊆conversion) 통과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ple SD Gothic Neo"/>
              </a:rPr>
              <a:t>CRM Uplift · 전체발송 vs ML 타겟팅 · Hillstrom 실데이터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ple SD Gothic Ne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Apple SD Gothic Neo"/>
              </a:rPr>
              <a:t>발견 1/3</a:t>
            </a:r>
          </a:p>
          <a:p>
            <a:r>
              <a:rPr sz="2800" b="1">
                <a:solidFill>
                  <a:srgbClr val="0F172A"/>
                </a:solidFill>
                <a:latin typeface="Apple SD Gothic Neo"/>
              </a:rPr>
              <a:t>결과 ① 이메일은 평균적으로 강하게 먹힌다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73152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</a:rPr>
                        <a:t>결과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</a:rPr>
                        <a:t>treated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</a:rPr>
                        <a:t>control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</a:rPr>
                        <a:t>증분(ATE)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</a:rPr>
                        <a:t>상대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F172A"/>
                          </a:solidFill>
                          <a:latin typeface="Apple SD Gothic Neo"/>
                        </a:rPr>
                        <a:t>visit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  <a:latin typeface="Apple SD Gothic Neo"/>
                        </a:rPr>
                        <a:t>16.7%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  <a:latin typeface="Apple SD Gothic Neo"/>
                        </a:rPr>
                        <a:t>10.6%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  <a:latin typeface="Apple SD Gothic Neo"/>
                        </a:rPr>
                        <a:t>+6.1%p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  <a:latin typeface="Apple SD Gothic Neo"/>
                        </a:rPr>
                        <a:t>+57%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F172A"/>
                          </a:solidFill>
                          <a:latin typeface="Apple SD Gothic Neo"/>
                        </a:rPr>
                        <a:t>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  <a:latin typeface="Apple SD Gothic Neo"/>
                        </a:rPr>
                        <a:t>1.07%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  <a:latin typeface="Apple SD Gothic Neo"/>
                        </a:rPr>
                        <a:t>0.57%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  <a:latin typeface="Apple SD Gothic Neo"/>
                        </a:rPr>
                        <a:t>+0.50%p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  <a:latin typeface="Apple SD Gothic Neo"/>
                        </a:rPr>
                        <a:t>+86%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F172A"/>
                          </a:solidFill>
                          <a:latin typeface="Apple SD Gothic Neo"/>
                        </a:rPr>
                        <a:t>spend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  <a:latin typeface="Apple SD Gothic Neo"/>
                        </a:rPr>
                        <a:t>$1.25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  <a:latin typeface="Apple SD Gothic Neo"/>
                        </a:rPr>
                        <a:t>$0.65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  <a:latin typeface="Apple SD Gothic Neo"/>
                        </a:rPr>
                        <a:t>+$0.60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  <a:latin typeface="Apple SD Gothic Neo"/>
                        </a:rPr>
                        <a:t>+91%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6634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4F46E5"/>
                </a:solidFill>
                <a:latin typeface="Apple SD Gothic Neo"/>
              </a:rPr>
              <a:t>•  → "그냥 다 보내"가 그 자체로 틀린 건 아니다.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  <a:latin typeface="Apple SD Gothic Neo"/>
              </a:rPr>
              <a:t>•  결론을 미리 정하고 데이터를 심으면 그게 더 위험 (지적 정직성의 출발점)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  <a:latin typeface="Apple SD Gothic Neo"/>
              </a:rPr>
              <a:t>•  AOV(구매자 평균 spend) ≈ $116 · 전체 구매율 0.9%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ple SD Gothic Neo"/>
              </a:rPr>
              <a:t>CRM Uplift · 전체발송 vs ML 타겟팅 · Hillstrom 실데이터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ple SD Gothic Ne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Apple SD Gothic Neo"/>
              </a:rPr>
              <a:t>모델</a:t>
            </a:r>
          </a:p>
          <a:p>
            <a:r>
              <a:rPr sz="2800" b="1">
                <a:solidFill>
                  <a:srgbClr val="0F172A"/>
                </a:solidFill>
                <a:latin typeface="Apple SD Gothic Neo"/>
              </a:rPr>
              <a:t>모델 — uplift T-learner, 신호는 약하지만 랜덤보다 위</a:t>
            </a:r>
          </a:p>
        </p:txBody>
      </p:sp>
      <p:pic>
        <p:nvPicPr>
          <p:cNvPr id="5" name="Picture 4" descr="qini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4864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20116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0F172A"/>
                </a:solidFill>
                <a:latin typeface="Apple SD Gothic Neo"/>
              </a:rPr>
              <a:t>•  scikit-uplift T-learner(TwoModels, GradientBoosting)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4F46E5"/>
                </a:solidFill>
                <a:latin typeface="Apple SD Gothic Neo"/>
              </a:rPr>
              <a:t>•  Qini AUC: validation 0.047 · test 0.046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64748B"/>
                </a:solidFill>
                <a:latin typeface="Apple SD Gothic Neo"/>
              </a:rPr>
              <a:t>•  Hillstrom은 uplift 신호가 본래 약한 데이터(문헌 0.03~0.06)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0F172A"/>
                </a:solidFill>
                <a:latin typeface="Apple SD Gothic Neo"/>
              </a:rPr>
              <a:t>•  → 랜덤보다 위지만 강하지 않다. 이 약함이 뒤의 핵심 교훈으로 이어진다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ple SD Gothic Neo"/>
              </a:rPr>
              <a:t>CRM Uplift · 전체발송 vs ML 타겟팅 · Hillstrom 실데이터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ple SD Gothic Ne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Apple SD Gothic Neo"/>
              </a:rPr>
              <a:t>발견 2/3</a:t>
            </a:r>
          </a:p>
          <a:p>
            <a:r>
              <a:rPr sz="2800" b="1">
                <a:solidFill>
                  <a:srgbClr val="0F172A"/>
                </a:solidFill>
                <a:latin typeface="Apple SD Gothic Neo"/>
              </a:rPr>
              <a:t>함정 — 분위 cherry-pick은 노이즈에 과적합한다</a:t>
            </a:r>
          </a:p>
        </p:txBody>
      </p:sp>
      <p:pic>
        <p:nvPicPr>
          <p:cNvPr id="5" name="Picture 4" descr="decile_net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5486400" cy="35269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21031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0F172A"/>
                </a:solidFill>
                <a:latin typeface="Apple SD Gothic Neo"/>
              </a:rPr>
              <a:t>•  '한계순이익&gt;0 분위만 발송'은 직관적이지만 위험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DC2626"/>
                </a:solidFill>
                <a:latin typeface="Apple SD Gothic Neo"/>
              </a:rPr>
              <a:t>•  빨강 = validation이 제외한 분위인데, 정작 test 최고 분위(1·3)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64748B"/>
                </a:solidFill>
                <a:latin typeface="Apple SD Gothic Neo"/>
              </a:rPr>
              <a:t>•  분위별 증분구매 95% CI가 넓다 = 부호를 단정할 수 없다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0F172A"/>
                </a:solidFill>
                <a:latin typeface="Apple SD Gothic Neo"/>
              </a:rPr>
              <a:t>•  비연속 선택 = validation 노이즈 과적합 → 불안정한 정책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ple SD Gothic Neo"/>
              </a:rPr>
              <a:t>CRM Uplift · 전체발송 vs ML 타겟팅 · Hillstrom 실데이터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ple SD Gothic Ne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Apple SD Gothic Neo"/>
              </a:rPr>
              <a:t>발견 3/3</a:t>
            </a:r>
          </a:p>
          <a:p>
            <a:r>
              <a:rPr sz="2800" b="1">
                <a:solidFill>
                  <a:srgbClr val="0F172A"/>
                </a:solidFill>
                <a:latin typeface="Apple SD Gothic Neo"/>
              </a:rPr>
              <a:t>개선 — 단조 top-k% 정책 (검증 규율 유지)</a:t>
            </a:r>
          </a:p>
        </p:txBody>
      </p:sp>
      <p:pic>
        <p:nvPicPr>
          <p:cNvPr id="5" name="Picture 4" descr="topk_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5486400" cy="35269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21031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0F172A"/>
                </a:solidFill>
                <a:latin typeface="Apple SD Gothic Neo"/>
              </a:rPr>
              <a:t>•  정책 = '상위 k%에 발송'(단조). k*는 validation, 평가는 test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46E5"/>
                </a:solidFill>
                <a:latin typeface="Apple SD Gothic Neo"/>
              </a:rPr>
              <a:t>•  기본 이메일: k* = 100% → 전체발송과 동률($1,490)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DC2626"/>
                </a:solidFill>
                <a:latin typeface="Apple SD Gothic Neo"/>
              </a:rPr>
              <a:t>•  같은 test에서 cherry-pick 정책은 −$1,033 손실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0F172A"/>
                </a:solidFill>
                <a:latin typeface="Apple SD Gothic Neo"/>
              </a:rPr>
              <a:t>•  핵심 교훈: 약한 신호에선 '모델'보다 '정책의 단조성'이 손익을 가른다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ple SD Gothic Neo"/>
              </a:rPr>
              <a:t>CRM Uplift · 전체발송 vs ML 타겟팅 · Hillstrom 실데이터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ple SD Gothic Ne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Apple SD Gothic Neo"/>
              </a:rPr>
              <a:t>의사결정</a:t>
            </a:r>
          </a:p>
          <a:p>
            <a:r>
              <a:rPr sz="2800" b="1">
                <a:solidFill>
                  <a:srgbClr val="0F172A"/>
                </a:solidFill>
                <a:latin typeface="Apple SD Gothic Neo"/>
              </a:rPr>
              <a:t>진짜 답은 채널 피로비에 달려 있다</a:t>
            </a:r>
          </a:p>
        </p:txBody>
      </p:sp>
      <p:pic>
        <p:nvPicPr>
          <p:cNvPr id="5" name="Picture 4" descr="fatigue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5486400" cy="35269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21031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0F172A"/>
                </a:solidFill>
                <a:latin typeface="Apple SD Gothic Neo"/>
              </a:rPr>
              <a:t>•  수신거부 1건 비용(피로비)을 얼마로 보느냐가 답을 가른다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DC2626"/>
                </a:solidFill>
                <a:latin typeface="Apple SD Gothic Neo"/>
              </a:rPr>
              <a:t>•  전체발송이 순손실로 도는 임계 = 약 $0.17/통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0F172A"/>
                </a:solidFill>
                <a:latin typeface="Apple SD Gothic Neo"/>
              </a:rPr>
              <a:t>•  이메일($0.05)은 안전권 → 전체발송 합리적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4F46E5"/>
                </a:solidFill>
                <a:latin typeface="Apple SD Gothic Neo"/>
              </a:rPr>
              <a:t>•  푸시·SMS(피로비 큼) → k*가 100%→5%로 하강, 타겟팅이 흑자 전환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ple SD Gothic Neo"/>
              </a:rPr>
              <a:t>CRM Uplift · 전체발송 vs ML 타겟팅 · Hillstrom 실데이터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ple SD Gothic Ne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ple SD Gothic Neo"/>
              </a:rPr>
              <a:t>결론 — 팀장 설득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FFFFFF"/>
                </a:solidFill>
                <a:latin typeface="Apple SD Gothic Neo"/>
              </a:rPr>
              <a:t>1. 이메일처럼 싼 채널은 검증해보면 답이 "다 보내라"로 나온다 (k*=100%).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CBD5E1"/>
                </a:solidFill>
                <a:latin typeface="Apple SD Gothic Neo"/>
              </a:rPr>
              <a:t>2. 단, 정책을 노이즈에 과적합시키면(분위 cherry-pick) 오히려 $1,033을 잃는다.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FFFFFF"/>
                </a:solidFill>
                <a:latin typeface="Apple SD Gothic Neo"/>
              </a:rPr>
              <a:t>3. 채널 피로비가 $0.17/통을 넘는 순간(푸시·SMS) 전체발송은 손실로 돌아서고,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CBD5E1"/>
                </a:solidFill>
                <a:latin typeface="Apple SD Gothic Neo"/>
              </a:rPr>
              <a:t>   그때 top-k 타겟팅의 가치가 살아난다 — 그 경계를 수치로 보여준다.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212080"/>
            <a:ext cx="10881360" cy="9144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F46E5"/>
                </a:solidFill>
                <a:latin typeface="Apple SD Gothic Neo"/>
              </a:rPr>
              <a:t>"ML로 거르면 무조건 이긴다"가 아니라, 가정·검증·정책 단조성을 함께 본다.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Apple SD Gothic Neo"/>
              </a:rPr>
              <a:t>한계</a:t>
            </a:r>
          </a:p>
          <a:p>
            <a:r>
              <a:rPr sz="2800" b="1">
                <a:solidFill>
                  <a:srgbClr val="0F172A"/>
                </a:solidFill>
                <a:latin typeface="Apple SD Gothic Neo"/>
              </a:rPr>
              <a:t>정직한 한계 — 결론이 선 천장을 명시한다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700" b="1">
                <a:solidFill>
                  <a:srgbClr val="0F172A"/>
                </a:solidFill>
                <a:latin typeface="Apple SD Gothic Neo"/>
              </a:rPr>
              <a:t>•  수신거부·LTV가 데이터에 없다 → 채널피로비는 가정 → 단일 답이 아닌 민감도로 제시</a:t>
            </a:r>
          </a:p>
          <a:p>
            <a:pPr>
              <a:spcAft>
                <a:spcPts val="1800"/>
              </a:spcAft>
            </a:pPr>
            <a:r>
              <a:rPr sz="1700" b="1">
                <a:solidFill>
                  <a:srgbClr val="0F172A"/>
                </a:solidFill>
                <a:latin typeface="Apple SD Gothic Neo"/>
              </a:rPr>
              <a:t>•  uplift 신호 약함(Qini 0.046) → 분위 증분 CI가 넓다 → '확정 sleeping-dog' 단정 회피</a:t>
            </a:r>
          </a:p>
          <a:p>
            <a:pPr>
              <a:spcAft>
                <a:spcPts val="1800"/>
              </a:spcAft>
            </a:pPr>
            <a:r>
              <a:rPr sz="1700" b="1">
                <a:solidFill>
                  <a:srgbClr val="0F172A"/>
                </a:solidFill>
                <a:latin typeface="Apple SD Gothic Neo"/>
              </a:rPr>
              <a:t>•  2008년 단일 캠페인 → 시점·업종 일반화 제한, 방법론 데모로 해석</a:t>
            </a:r>
          </a:p>
          <a:p>
            <a:pPr>
              <a:spcAft>
                <a:spcPts val="1800"/>
              </a:spcAft>
            </a:pPr>
            <a:r>
              <a:rPr sz="1700" b="0">
                <a:solidFill>
                  <a:srgbClr val="64748B"/>
                </a:solidFill>
                <a:latin typeface="Apple SD Gothic Neo"/>
              </a:rPr>
              <a:t>•  실데이터가 있다면: 수신거부 로그·LTV로 피로비 실측 · 다회차로 발송빈도↔피로 인과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ple SD Gothic Neo"/>
              </a:rPr>
              <a:t>CRM Uplift · 전체발송 vs ML 타겟팅 · Hillstrom 실데이터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ple SD Gothic Ne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Apple SD Gothic Neo"/>
              </a:rPr>
              <a:t>역량</a:t>
            </a:r>
          </a:p>
          <a:p>
            <a:r>
              <a:rPr sz="2800" b="1">
                <a:solidFill>
                  <a:srgbClr val="0F172A"/>
                </a:solidFill>
                <a:latin typeface="Apple SD Gothic Neo"/>
              </a:rPr>
              <a:t>이 프로젝트가 증명하는 것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5394960" cy="1828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109728" cy="1828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Apple SD Gothic Neo"/>
              </a:rPr>
              <a:t>증분 사고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0F172A"/>
                </a:solidFill>
                <a:latin typeface="Apple SD Gothic Neo"/>
              </a:rPr>
              <a:t>평균이 아니라 treated−control 인과로 의사결정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920240"/>
            <a:ext cx="5394960" cy="1828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920240"/>
            <a:ext cx="109728" cy="1828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Apple SD Gothic Neo"/>
              </a:rPr>
              <a:t>지적 정직성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0F172A"/>
                </a:solidFill>
                <a:latin typeface="Apple SD Gothic Neo"/>
              </a:rPr>
              <a:t>결론 미리 정하지 않음 · 합성으로 심지 않음 · ML 자동승리 거부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023360"/>
            <a:ext cx="5394960" cy="1828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023360"/>
            <a:ext cx="109728" cy="1828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Apple SD Gothic Neo"/>
              </a:rPr>
              <a:t>검증 규율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0F172A"/>
                </a:solidFill>
                <a:latin typeface="Apple SD Gothic Neo"/>
              </a:rPr>
              <a:t>train/val/test 분리 · 정책 단조화 · 95% CI로 과대주장 차단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4023360"/>
            <a:ext cx="5394960" cy="1828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4023360"/>
            <a:ext cx="109728" cy="1828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2519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Apple SD Gothic Neo"/>
              </a:rPr>
              <a:t>의사결정 소유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0F172A"/>
                </a:solidFill>
                <a:latin typeface="Apple SD Gothic Neo"/>
              </a:rPr>
              <a:t>R2→Gap→3프레임 분해→민감도, 팀장 설득까지 수렴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ple SD Gothic Neo"/>
              </a:rPr>
              <a:t>CRM Uplift · 전체발송 vs ML 타겟팅 · Hillstrom 실데이터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ple SD Gothic Ne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pple SD Gothic Neo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BD5E1"/>
                </a:solidFill>
                <a:latin typeface="Apple SD Gothic Neo"/>
              </a:rPr>
              <a:t>코드·리포트: github.com/seungyoon-lee29/crm-uplift-analysis</a:t>
            </a:r>
          </a:p>
          <a:p>
            <a:r>
              <a:rPr sz="1500" b="0">
                <a:solidFill>
                  <a:srgbClr val="CBD5E1"/>
                </a:solidFill>
                <a:latin typeface="Apple SD Gothic Neo"/>
              </a:rPr>
              <a:t>공급측 짝 프로젝트: amazon-seller-entry-analysis (마켓플레이스 양면)</a:t>
            </a:r>
          </a:p>
          <a:p>
            <a:r>
              <a:rPr sz="1500" b="0">
                <a:solidFill>
                  <a:srgbClr val="CBD5E1"/>
                </a:solidFill>
                <a:latin typeface="Apple SD Gothic Neo"/>
              </a:rPr>
              <a:t>make all 로 전체 재현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